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698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 err="1">
                <a:solidFill>
                  <a:srgbClr val="FFFFFF"/>
                </a:solidFill>
              </a:rPr>
              <a:t>Prédiction</a:t>
            </a:r>
            <a:r>
              <a:rPr sz="4000" b="1" dirty="0">
                <a:solidFill>
                  <a:srgbClr val="FFFFFF"/>
                </a:solidFill>
              </a:rPr>
              <a:t> de </a:t>
            </a:r>
            <a:r>
              <a:rPr sz="4000" b="1" dirty="0" err="1">
                <a:solidFill>
                  <a:srgbClr val="FFFFFF"/>
                </a:solidFill>
              </a:rPr>
              <a:t>Salaires</a:t>
            </a:r>
            <a:r>
              <a:rPr sz="4000" b="1" dirty="0">
                <a:solidFill>
                  <a:srgbClr val="FFFFFF"/>
                </a:solidFill>
              </a:rPr>
              <a:t> par Machine Learning &amp; NLP</a:t>
            </a:r>
          </a:p>
          <a:p>
            <a:r>
              <a:rPr sz="2000" dirty="0" err="1">
                <a:solidFill>
                  <a:srgbClr val="CFDCEF"/>
                </a:solidFill>
              </a:rPr>
              <a:t>Projet</a:t>
            </a:r>
            <a:r>
              <a:rPr sz="2000" dirty="0">
                <a:solidFill>
                  <a:srgbClr val="CFDCEF"/>
                </a:solidFill>
              </a:rPr>
              <a:t> </a:t>
            </a:r>
            <a:r>
              <a:rPr sz="2000" dirty="0" err="1">
                <a:solidFill>
                  <a:srgbClr val="CFDCEF"/>
                </a:solidFill>
              </a:rPr>
              <a:t>d'Intégration</a:t>
            </a:r>
            <a:r>
              <a:rPr sz="2000" dirty="0">
                <a:solidFill>
                  <a:srgbClr val="CFDCEF"/>
                </a:solidFill>
              </a:rPr>
              <a:t> (PI) — Espri</a:t>
            </a:r>
            <a:r>
              <a:rPr lang="en-US" sz="2000" dirty="0">
                <a:solidFill>
                  <a:srgbClr val="CFDCEF"/>
                </a:solidFill>
              </a:rPr>
              <a:t>t</a:t>
            </a:r>
            <a:endParaRPr sz="2000" dirty="0">
              <a:solidFill>
                <a:srgbClr val="CFDCE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Contexte &amp; 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Prédire le salaire annuel d'une offre d'emploi (domaine data).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Données : 785 741 offres d'emploi (2023).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Cible : salaire annuel moyen en USD.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Système complet de bout en bout 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Connexion SQL Server, EDA, feature engineering NLP + tabulaire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Comparaison de modèles, optimisation, ensemble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Explicabilité, API REST (FastAPI), tableau de bord (Streamlit)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Connexion à l'entrepôt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Connexion SQLAlchemy + pyodbc (authentification Windows).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Schéma en étoile détecté automatiquement 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Fact_Jobs (779 226) — table de faits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Dim_Job, Dim_Company, Dim_Location, Dim_Date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Bridge_Job_Skills → Dim_Job_Skills (compétences N-N)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Modules : connexion, inspection du schéma, diagnostics.</a:t>
            </a:r>
          </a:p>
        </p:txBody>
      </p:sp>
      <p:pic>
        <p:nvPicPr>
          <p:cNvPr id="4" name="Picture 3" descr="04_salary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63040"/>
            <a:ext cx="4206240" cy="18811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Analyse exploratoire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Seules 22 003 offres (2,8 %) ont un salaire → sous-ensemble d'étude.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Médiane 115 000 $ ; moyenne 123 286 $.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Salaire asymétrique (1,75) → transformation log (asymétrie -0,18).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Télétravail : +13 830 $ de médiane.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5,4 compétences/offre ; présentes sur 91,7 % des lignes.</a:t>
            </a:r>
          </a:p>
        </p:txBody>
      </p:sp>
      <p:pic>
        <p:nvPicPr>
          <p:cNvPr id="4" name="Picture 3" descr="01_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029200" cy="17036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Ingénierie des caractéristiques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Numériques : nb compétences, séniorité, télétravail, mois, catégories.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Catégorielles : One-Hot + Target Encoding sans fuite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(pays, entreprise, ville)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Textuelles (NLP) : TF-IDF sur compétences et titre.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Ajout entreprise + ville + catégories → R² de 0,53 à 0,59.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Target Encoding intra-validation croisée → aucune fuite de données.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Comparaison des modèles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10 modèles entraînés (cible log, métriques en USD) 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LightGBM : R² 0.591 | MAE $21,338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XGBoost : R² 0.578 | MAE $21,851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ExtraTrees : R² 0.552 | MAE $21,565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Ridge : R² 0.534 | MAE $22,967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GradientBoosting : R² 0.532 | MAE $23,468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CatBoost : R² 0.519 | MAE $23,198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Boosting d'arbres (LightGBM, XGBoost) en tête.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Optimisation (Optuna) &amp; Ensemble (Stacking)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Optuna : 40 essais LightGBM + 25 essais XGBoost.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Stacking : ExtraTrees + LightGBM + XGBoost → méta-modèle Ridge.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Validation croisée interne à 5 plis.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Le modèle empilé est le modèle final déployé.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Résultats finaux (jeu de 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2407843" cy="2011680"/>
          </a:xfrm>
          <a:prstGeom prst="rect">
            <a:avLst/>
          </a:prstGeom>
          <a:solidFill>
            <a:srgbClr val="F2F5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1F4E79"/>
                </a:solidFill>
              </a:rPr>
              <a:t>0.59</a:t>
            </a:r>
          </a:p>
          <a:p>
            <a:pPr algn="ctr"/>
            <a:r>
              <a:rPr sz="1300">
                <a:solidFill>
                  <a:srgbClr val="222222"/>
                </a:solidFill>
              </a:rPr>
              <a:t>R² (test)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123" y="2011680"/>
            <a:ext cx="2407843" cy="2011680"/>
          </a:xfrm>
          <a:prstGeom prst="rect">
            <a:avLst/>
          </a:prstGeom>
          <a:solidFill>
            <a:srgbClr val="F2F5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1F4E79"/>
                </a:solidFill>
              </a:rPr>
              <a:t>18.5%</a:t>
            </a:r>
          </a:p>
          <a:p>
            <a:pPr algn="ctr"/>
            <a:r>
              <a:rPr sz="1300">
                <a:solidFill>
                  <a:srgbClr val="222222"/>
                </a:solidFill>
              </a:rPr>
              <a:t>MAPE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8727" y="2011680"/>
            <a:ext cx="2407843" cy="2011680"/>
          </a:xfrm>
          <a:prstGeom prst="rect">
            <a:avLst/>
          </a:prstGeom>
          <a:solidFill>
            <a:srgbClr val="F2F5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1F4E79"/>
                </a:solidFill>
              </a:rPr>
              <a:t>$20,734</a:t>
            </a:r>
          </a:p>
          <a:p>
            <a:pPr algn="ctr"/>
            <a:r>
              <a:rPr sz="1300">
                <a:solidFill>
                  <a:srgbClr val="222222"/>
                </a:solidFill>
              </a:rPr>
              <a:t>MAE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331" y="2011680"/>
            <a:ext cx="2407843" cy="2011680"/>
          </a:xfrm>
          <a:prstGeom prst="rect">
            <a:avLst/>
          </a:prstGeom>
          <a:solidFill>
            <a:srgbClr val="F2F5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>
                <a:solidFill>
                  <a:srgbClr val="1F4E79"/>
                </a:solidFill>
              </a:rPr>
              <a:t>81%</a:t>
            </a:r>
          </a:p>
          <a:p>
            <a:pPr algn="ctr"/>
            <a:r>
              <a:rPr sz="1300">
                <a:solidFill>
                  <a:srgbClr val="222222"/>
                </a:solidFill>
              </a:rPr>
              <a:t>Couverture intervalle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Validation croisée 5 plis : R² = 0,59 ± 0,013 (très stable).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Erreur moyenne ~18,5 % sur un salaire médian de 115 000 $.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Diagnostics d'évaluation</a:t>
            </a:r>
          </a:p>
        </p:txBody>
      </p:sp>
      <p:pic>
        <p:nvPicPr>
          <p:cNvPr id="3" name="Picture 2" descr="evaluation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29420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Prédiction par intervalle (fourchette)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Régression quantile (5e-95e pct) : couverture 81.3 % (nominal 90 %).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Ex : Senior Data Scientist → ~157 k$ [92 k – 202 k$].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Plus honnête et utile qu'une valeur unique.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N.B. : l'intervalle n'augmente pas la précision ponctuelle ;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c'est une métrique distincte (la couverture).</a:t>
            </a:r>
          </a:p>
        </p:txBody>
      </p:sp>
      <p:pic>
        <p:nvPicPr>
          <p:cNvPr id="4" name="Picture 3" descr="interval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5212080" cy="23744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Explicabilité : facteurs du salaire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Variables les plus déterminantes 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1. Titre du poste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2. Entreprise (company_name)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3. Séniorité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4. Compétences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– 5. Pays / Ville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4374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Pourquoi 0,59 est le maximum atteignable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Plafond imposé par les DONNÉES, pas par le modèle.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Variables clés absentes : années d'expérience, description complète.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Rendements décroissants vérifiés : optimisation étendue → R² identique.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Stabilité prouvée : validation croisée 0,59 ± 0,013.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Arbres = arrêt précoce : entraîner plus longtemps = surapprentissage.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Rigueur : aucune fuite, test isolé → résultats honnêtes et défendables.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&amp; Livrables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Code modulaire : db, data, preprocessing, features, models, evaluation.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API FastAPI : /predict (valeur + fourchette), /metrics, /feature-importance.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Tableau de bord Streamlit : prédiction, comparaison, importance, EDA.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Modèle persisté, rapports et figures générés automatiquement.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Bonnes pratiques : typage, logging, gestion d'erreurs, configuration .env.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Système complet de qualité production.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R² = 0.59 | MAPE = 18.5 % | Couverture = 81 %.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Plafond réaliste des données atteint, avec rigueur méthodologique.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Perspectives : données enrichies, MLflow, reconstruction de l'entrepôt.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222"/>
                </a:solidFill>
              </a:rPr>
              <a:t>• Merci de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802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Melek BEN MANSOUR</cp:lastModifiedBy>
  <cp:revision>2</cp:revision>
  <dcterms:created xsi:type="dcterms:W3CDTF">2013-01-27T09:14:16Z</dcterms:created>
  <dcterms:modified xsi:type="dcterms:W3CDTF">2026-05-30T04:33:49Z</dcterms:modified>
  <cp:category/>
</cp:coreProperties>
</file>